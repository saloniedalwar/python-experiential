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4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604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Experiential Learning</a:t>
            </a:r>
            <a:endParaRPr lang="en-US" sz="2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Assessment-I</a:t>
            </a:r>
            <a:endParaRPr lang="en-US" sz="2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2100" dirty="0"/>
          </a:p>
          <a:p>
            <a:pPr algn="ctr">
              <a:lnSpc>
                <a:spcPct val="105000"/>
              </a:lnSpc>
            </a:pPr>
            <a:r>
              <a:rPr lang="en-US" sz="21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“Mad Libs Generator in Python”</a:t>
            </a:r>
            <a:endParaRPr lang="en-US" sz="2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Programming Language (N-PCCCM304P)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Saloni Manoj </a:t>
            </a:r>
            <a:r>
              <a:rPr lang="en-US" sz="14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Edalwar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(CM25049)</a:t>
            </a:r>
            <a:endParaRPr lang="en-US" sz="1400" dirty="0"/>
          </a:p>
        </p:txBody>
      </p:sp>
      <p:pic>
        <p:nvPicPr>
          <p:cNvPr id="6" name="Image 0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108960"/>
            <a:ext cx="118872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Mrs. Mayuri Getme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892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Session: 2026-27 (ODD)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CSE (AI&amp;ML)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5623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 B. JAIN INSTITUTE OF TECHNOLOGY MANAGEMENT AND RESEARCH, NAGPUR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Autonomous Institute, Affiliated to RTMNU, Nagpur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371600"/>
          </a:xfrm>
          <a:prstGeom prst="roundRect">
            <a:avLst>
              <a:gd name="adj" fmla="val 5333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70432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Develop a basic Python-based Mad Libs Generator that collects different words such as nouns, verbs, adjectives, and places from the user. The program should use these inputs with predefined story templates to generate a creative and entertaining story..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663440" y="31546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67E6DC-658E-E042-C6D3-6563FDAE28F5}"/>
              </a:ext>
            </a:extLst>
          </p:cNvPr>
          <p:cNvSpPr txBox="1"/>
          <p:nvPr/>
        </p:nvSpPr>
        <p:spPr>
          <a:xfrm>
            <a:off x="387926" y="3154680"/>
            <a:ext cx="4544291" cy="23775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US" sz="1350" dirty="0"/>
          </a:p>
          <a:p>
            <a:r>
              <a:rPr lang="en-US" sz="1350" dirty="0"/>
              <a:t>1.To develop a simple Mad Libs Generator using Python.</a:t>
            </a:r>
          </a:p>
          <a:p>
            <a:endParaRPr lang="en-US" sz="1350" dirty="0"/>
          </a:p>
          <a:p>
            <a:r>
              <a:rPr lang="en-US" sz="1350" dirty="0"/>
              <a:t>2. To collect different types of words from the user.</a:t>
            </a:r>
          </a:p>
          <a:p>
            <a:pPr marL="342900" indent="-342900">
              <a:buAutoNum type="arabicPeriod"/>
            </a:pPr>
            <a:endParaRPr lang="en-US" sz="1350" dirty="0"/>
          </a:p>
          <a:p>
            <a:r>
              <a:rPr lang="en-US" sz="1350" dirty="0"/>
              <a:t>3. To generate creative stories using predefined templates</a:t>
            </a:r>
          </a:p>
          <a:p>
            <a:endParaRPr lang="en-US" sz="1350" dirty="0"/>
          </a:p>
          <a:p>
            <a:r>
              <a:rPr lang="en-US" sz="1350" dirty="0"/>
              <a:t>4.To demonstrate basic Python concepts like input, variables, strings, and conditional statements.</a:t>
            </a:r>
          </a:p>
          <a:p>
            <a:endParaRPr lang="en-US" sz="1350" dirty="0"/>
          </a:p>
          <a:p>
            <a:r>
              <a:rPr lang="en-US" sz="1350" dirty="0"/>
              <a:t>5. To make the program interactive and entertaining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88136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C00000"/>
                </a:solidFill>
              </a:rPr>
              <a:t>Start  </a:t>
            </a:r>
            <a:r>
              <a:rPr lang="en-US" sz="1200" dirty="0">
                <a:solidFill>
                  <a:srgbClr val="C00000"/>
                </a:solidFill>
              </a:rPr>
              <a:t>Begin the </a:t>
            </a:r>
            <a:r>
              <a:rPr lang="en-US" sz="1400" dirty="0">
                <a:solidFill>
                  <a:srgbClr val="C00000"/>
                </a:solidFill>
              </a:rPr>
              <a:t>Mad</a:t>
            </a:r>
            <a:r>
              <a:rPr lang="en-US" sz="1200" dirty="0">
                <a:solidFill>
                  <a:srgbClr val="C00000"/>
                </a:solidFill>
              </a:rPr>
              <a:t> Libs Generator program.</a:t>
            </a:r>
          </a:p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FFFFFF"/>
                </a:solidFill>
              </a:rPr>
              <a:t>Start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2402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1250" dirty="0">
              <a:solidFill>
                <a:srgbClr val="C0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72184" y="2943306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886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11851" y="51448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07947" y="3505385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70916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3886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70916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90849D8-F14E-3412-295A-8723D1F010F9}"/>
              </a:ext>
            </a:extLst>
          </p:cNvPr>
          <p:cNvSpPr/>
          <p:nvPr/>
        </p:nvSpPr>
        <p:spPr>
          <a:xfrm>
            <a:off x="411480" y="1106424"/>
            <a:ext cx="475488" cy="475488"/>
          </a:xfrm>
          <a:prstGeom prst="ellipse">
            <a:avLst/>
          </a:prstGeom>
          <a:solidFill>
            <a:srgbClr val="4B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121828"/>
                </a:solidFill>
              </a:defRPr>
            </a:pPr>
            <a:r>
              <a:t>01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C7E22B4-7C6E-6F3E-90E4-E0412860D8ED}"/>
              </a:ext>
            </a:extLst>
          </p:cNvPr>
          <p:cNvSpPr/>
          <p:nvPr/>
        </p:nvSpPr>
        <p:spPr>
          <a:xfrm>
            <a:off x="411018" y="2059524"/>
            <a:ext cx="475488" cy="475488"/>
          </a:xfrm>
          <a:prstGeom prst="ellipse">
            <a:avLst/>
          </a:prstGeom>
          <a:solidFill>
            <a:srgbClr val="4B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121828"/>
                </a:solidFill>
              </a:defRPr>
            </a:pPr>
            <a:r>
              <a:t>02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A62481F-DFE6-C226-6867-95A1C0D7237B}"/>
              </a:ext>
            </a:extLst>
          </p:cNvPr>
          <p:cNvSpPr/>
          <p:nvPr/>
        </p:nvSpPr>
        <p:spPr>
          <a:xfrm>
            <a:off x="442745" y="2926127"/>
            <a:ext cx="475488" cy="475488"/>
          </a:xfrm>
          <a:prstGeom prst="ellipse">
            <a:avLst/>
          </a:prstGeom>
          <a:solidFill>
            <a:srgbClr val="4B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121828"/>
                </a:solidFill>
              </a:defRPr>
            </a:pPr>
            <a:r>
              <a:rPr dirty="0"/>
              <a:t>03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F0C9967-94EE-D40C-6BF5-5EE37C5AC9E6}"/>
              </a:ext>
            </a:extLst>
          </p:cNvPr>
          <p:cNvSpPr/>
          <p:nvPr/>
        </p:nvSpPr>
        <p:spPr>
          <a:xfrm>
            <a:off x="463434" y="3849624"/>
            <a:ext cx="475488" cy="475488"/>
          </a:xfrm>
          <a:prstGeom prst="ellipse">
            <a:avLst/>
          </a:prstGeom>
          <a:solidFill>
            <a:srgbClr val="4B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121828"/>
                </a:solidFill>
              </a:defRPr>
            </a:pPr>
            <a:r>
              <a:t>04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379024D-2ADD-595F-847F-9EF4B58E34E5}"/>
              </a:ext>
            </a:extLst>
          </p:cNvPr>
          <p:cNvSpPr/>
          <p:nvPr/>
        </p:nvSpPr>
        <p:spPr>
          <a:xfrm>
            <a:off x="442745" y="4730403"/>
            <a:ext cx="475488" cy="475488"/>
          </a:xfrm>
          <a:prstGeom prst="ellipse">
            <a:avLst/>
          </a:prstGeom>
          <a:solidFill>
            <a:srgbClr val="4B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121828"/>
                </a:solidFill>
              </a:defRPr>
            </a:pPr>
            <a:r>
              <a:t>05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128968E-95CD-D3B4-4347-CBFDBF63B412}"/>
              </a:ext>
            </a:extLst>
          </p:cNvPr>
          <p:cNvSpPr/>
          <p:nvPr/>
        </p:nvSpPr>
        <p:spPr>
          <a:xfrm>
            <a:off x="458955" y="5533783"/>
            <a:ext cx="475488" cy="475488"/>
          </a:xfrm>
          <a:prstGeom prst="ellipse">
            <a:avLst/>
          </a:prstGeom>
          <a:solidFill>
            <a:srgbClr val="4B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121828"/>
                </a:solidFill>
              </a:defRPr>
            </a:pPr>
            <a:r>
              <a:t>06</a:t>
            </a:r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A0E1F413-1287-EBE4-9B5B-7FB57D8EDC44}"/>
              </a:ext>
            </a:extLst>
          </p:cNvPr>
          <p:cNvSpPr txBox="1"/>
          <p:nvPr/>
        </p:nvSpPr>
        <p:spPr>
          <a:xfrm>
            <a:off x="1005840" y="2041236"/>
            <a:ext cx="5231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50" b="1" dirty="0">
                <a:solidFill>
                  <a:srgbClr val="C00000"/>
                </a:solidFill>
              </a:rPr>
              <a:t>Choose Template  </a:t>
            </a:r>
            <a:r>
              <a:rPr sz="1400" dirty="0">
                <a:solidFill>
                  <a:srgbClr val="C00000"/>
                </a:solidFill>
              </a:rPr>
              <a:t>Display</a:t>
            </a:r>
            <a:r>
              <a:rPr sz="1250" dirty="0">
                <a:solidFill>
                  <a:srgbClr val="C00000"/>
                </a:solidFill>
              </a:rPr>
              <a:t> the menu and let the user select a story template.</a:t>
            </a:r>
          </a:p>
        </p:txBody>
      </p:sp>
      <p:sp>
        <p:nvSpPr>
          <p:cNvPr id="44" name="TextBox 10">
            <a:extLst>
              <a:ext uri="{FF2B5EF4-FFF2-40B4-BE49-F238E27FC236}">
                <a16:creationId xmlns:a16="http://schemas.microsoft.com/office/drawing/2014/main" id="{C87169C0-84BB-CB7B-BB66-F323681BC203}"/>
              </a:ext>
            </a:extLst>
          </p:cNvPr>
          <p:cNvSpPr txBox="1"/>
          <p:nvPr/>
        </p:nvSpPr>
        <p:spPr>
          <a:xfrm>
            <a:off x="1005840" y="3054030"/>
            <a:ext cx="48962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 dirty="0">
                <a:solidFill>
                  <a:srgbClr val="C00000"/>
                </a:solidFill>
              </a:rPr>
              <a:t>Take Inputs  </a:t>
            </a:r>
            <a:r>
              <a:rPr sz="1400" dirty="0">
                <a:solidFill>
                  <a:srgbClr val="C00000"/>
                </a:solidFill>
              </a:rPr>
              <a:t>Ask for words such as name, noun, verb, adjective, adverb and place.</a:t>
            </a:r>
          </a:p>
        </p:txBody>
      </p:sp>
      <p:sp>
        <p:nvSpPr>
          <p:cNvPr id="47" name="TextBox 12">
            <a:extLst>
              <a:ext uri="{FF2B5EF4-FFF2-40B4-BE49-F238E27FC236}">
                <a16:creationId xmlns:a16="http://schemas.microsoft.com/office/drawing/2014/main" id="{073B24F7-4DF3-89B4-BB76-4273E0F879BD}"/>
              </a:ext>
            </a:extLst>
          </p:cNvPr>
          <p:cNvSpPr txBox="1"/>
          <p:nvPr/>
        </p:nvSpPr>
        <p:spPr>
          <a:xfrm>
            <a:off x="1097280" y="3945267"/>
            <a:ext cx="7137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 dirty="0">
                <a:solidFill>
                  <a:srgbClr val="C00000"/>
                </a:solidFill>
              </a:rPr>
              <a:t>Build Story  </a:t>
            </a:r>
            <a:r>
              <a:rPr sz="1400" dirty="0">
                <a:solidFill>
                  <a:srgbClr val="C00000"/>
                </a:solidFill>
              </a:rPr>
              <a:t>Insert the entered words into the selected predefined template.</a:t>
            </a:r>
          </a:p>
        </p:txBody>
      </p:sp>
      <p:sp>
        <p:nvSpPr>
          <p:cNvPr id="48" name="TextBox 14">
            <a:extLst>
              <a:ext uri="{FF2B5EF4-FFF2-40B4-BE49-F238E27FC236}">
                <a16:creationId xmlns:a16="http://schemas.microsoft.com/office/drawing/2014/main" id="{9FA9D8FA-43FA-225A-80C9-8DE6852CEB00}"/>
              </a:ext>
            </a:extLst>
          </p:cNvPr>
          <p:cNvSpPr txBox="1"/>
          <p:nvPr/>
        </p:nvSpPr>
        <p:spPr>
          <a:xfrm>
            <a:off x="1077743" y="4858098"/>
            <a:ext cx="4134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 dirty="0">
                <a:solidFill>
                  <a:srgbClr val="C00000"/>
                </a:solidFill>
              </a:rPr>
              <a:t>Generate  </a:t>
            </a:r>
            <a:r>
              <a:rPr sz="1400" dirty="0">
                <a:solidFill>
                  <a:srgbClr val="C00000"/>
                </a:solidFill>
              </a:rPr>
              <a:t>Create the complete and entertaining story.</a:t>
            </a:r>
          </a:p>
        </p:txBody>
      </p:sp>
      <p:sp>
        <p:nvSpPr>
          <p:cNvPr id="49" name="TextBox 16">
            <a:extLst>
              <a:ext uri="{FF2B5EF4-FFF2-40B4-BE49-F238E27FC236}">
                <a16:creationId xmlns:a16="http://schemas.microsoft.com/office/drawing/2014/main" id="{E0F46F89-CB8A-EEF1-20F2-33C90B85443D}"/>
              </a:ext>
            </a:extLst>
          </p:cNvPr>
          <p:cNvSpPr txBox="1"/>
          <p:nvPr/>
        </p:nvSpPr>
        <p:spPr>
          <a:xfrm>
            <a:off x="1097280" y="5626597"/>
            <a:ext cx="48544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 dirty="0">
                <a:solidFill>
                  <a:srgbClr val="C00000"/>
                </a:solidFill>
              </a:rPr>
              <a:t>Display &amp; Stop  </a:t>
            </a:r>
            <a:r>
              <a:rPr sz="1400" dirty="0">
                <a:solidFill>
                  <a:srgbClr val="C00000"/>
                </a:solidFill>
              </a:rPr>
              <a:t>Show the generated story and end the program.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&amp; Flowchart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868679"/>
            <a:ext cx="5074920" cy="4940831"/>
          </a:xfrm>
          <a:prstGeom prst="roundRect">
            <a:avLst>
              <a:gd name="adj" fmla="val 1081"/>
            </a:avLst>
          </a:prstGeom>
          <a:solidFill>
            <a:srgbClr val="F2F4F4"/>
          </a:solidFill>
          <a:ln w="9525">
            <a:solidFill>
              <a:srgbClr val="6E8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07008"/>
            <a:ext cx="470916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0644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06440" y="1700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06440" y="2907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8" name="Rounded Rectangle 9">
            <a:extLst>
              <a:ext uri="{FF2B5EF4-FFF2-40B4-BE49-F238E27FC236}">
                <a16:creationId xmlns:a16="http://schemas.microsoft.com/office/drawing/2014/main" id="{EF75CD2B-C84A-18A0-6748-0E4C1AAD7324}"/>
              </a:ext>
            </a:extLst>
          </p:cNvPr>
          <p:cNvSpPr/>
          <p:nvPr/>
        </p:nvSpPr>
        <p:spPr>
          <a:xfrm>
            <a:off x="640080" y="1464241"/>
            <a:ext cx="4709160" cy="3703320"/>
          </a:xfrm>
          <a:prstGeom prst="roundRect">
            <a:avLst/>
          </a:prstGeom>
          <a:solidFill>
            <a:srgbClr val="0F1628"/>
          </a:solidFill>
          <a:ln>
            <a:solidFill>
              <a:srgbClr val="2C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bIns="1371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500"/>
              </a:spcAft>
              <a:defRPr sz="1200" b="1">
                <a:solidFill>
                  <a:srgbClr val="E0EBF5"/>
                </a:solidFill>
                <a:latin typeface="Consolas"/>
              </a:defRPr>
            </a:pPr>
            <a:r>
              <a:rPr dirty="0"/>
              <a:t>START</a:t>
            </a:r>
          </a:p>
          <a:p>
            <a:pPr>
              <a:spcAft>
                <a:spcPts val="500"/>
              </a:spcAft>
              <a:defRPr sz="1120" b="0">
                <a:solidFill>
                  <a:srgbClr val="E0EBF5"/>
                </a:solidFill>
                <a:latin typeface="Consolas"/>
              </a:defRPr>
            </a:pPr>
            <a:r>
              <a:rPr dirty="0"/>
              <a:t>Display available story templates</a:t>
            </a:r>
          </a:p>
          <a:p>
            <a:pPr>
              <a:spcAft>
                <a:spcPts val="500"/>
              </a:spcAft>
              <a:defRPr sz="1120" b="0">
                <a:solidFill>
                  <a:srgbClr val="E0EBF5"/>
                </a:solidFill>
                <a:latin typeface="Consolas"/>
              </a:defRPr>
            </a:pPr>
            <a:r>
              <a:rPr dirty="0"/>
              <a:t>Ask user to choose a template</a:t>
            </a:r>
          </a:p>
          <a:p>
            <a:pPr>
              <a:spcAft>
                <a:spcPts val="500"/>
              </a:spcAft>
              <a:defRPr sz="1120" b="0">
                <a:solidFill>
                  <a:srgbClr val="E0EBF5"/>
                </a:solidFill>
                <a:latin typeface="Consolas"/>
              </a:defRPr>
            </a:pPr>
            <a:r>
              <a:rPr dirty="0"/>
              <a:t>Collect required words:</a:t>
            </a:r>
          </a:p>
          <a:p>
            <a:pPr>
              <a:spcAft>
                <a:spcPts val="500"/>
              </a:spcAft>
              <a:defRPr sz="1120" b="0">
                <a:solidFill>
                  <a:srgbClr val="E0EBF5"/>
                </a:solidFill>
                <a:latin typeface="Consolas"/>
              </a:defRPr>
            </a:pPr>
            <a:r>
              <a:rPr dirty="0"/>
              <a:t>  noun, verb, adjective, adverb, place…</a:t>
            </a:r>
          </a:p>
          <a:p>
            <a:pPr>
              <a:spcAft>
                <a:spcPts val="500"/>
              </a:spcAft>
              <a:defRPr sz="1120" b="0">
                <a:solidFill>
                  <a:srgbClr val="E0EBF5"/>
                </a:solidFill>
                <a:latin typeface="Consolas"/>
              </a:defRPr>
            </a:pPr>
            <a:r>
              <a:rPr dirty="0"/>
              <a:t>Insert words into the selected template</a:t>
            </a:r>
          </a:p>
          <a:p>
            <a:pPr>
              <a:spcAft>
                <a:spcPts val="500"/>
              </a:spcAft>
              <a:defRPr sz="1120" b="0">
                <a:solidFill>
                  <a:srgbClr val="E0EBF5"/>
                </a:solidFill>
                <a:latin typeface="Consolas"/>
              </a:defRPr>
            </a:pPr>
            <a:r>
              <a:rPr dirty="0"/>
              <a:t>Generate the completed story</a:t>
            </a:r>
          </a:p>
          <a:p>
            <a:pPr>
              <a:spcAft>
                <a:spcPts val="500"/>
              </a:spcAft>
              <a:defRPr sz="1120" b="0">
                <a:solidFill>
                  <a:srgbClr val="E0EBF5"/>
                </a:solidFill>
                <a:latin typeface="Consolas"/>
              </a:defRPr>
            </a:pPr>
            <a:r>
              <a:rPr dirty="0"/>
              <a:t>Display the funny story</a:t>
            </a:r>
          </a:p>
          <a:p>
            <a:pPr>
              <a:spcAft>
                <a:spcPts val="500"/>
              </a:spcAft>
              <a:defRPr sz="1120" b="0">
                <a:solidFill>
                  <a:srgbClr val="E0EBF5"/>
                </a:solidFill>
                <a:latin typeface="Consolas"/>
              </a:defRPr>
            </a:pPr>
            <a:r>
              <a:rPr dirty="0"/>
              <a:t>Ask: “Play again?”</a:t>
            </a:r>
          </a:p>
          <a:p>
            <a:pPr>
              <a:spcAft>
                <a:spcPts val="500"/>
              </a:spcAft>
              <a:defRPr sz="1120" b="0">
                <a:solidFill>
                  <a:srgbClr val="E0EBF5"/>
                </a:solidFill>
                <a:latin typeface="Consolas"/>
              </a:defRPr>
            </a:pPr>
            <a:r>
              <a:rPr dirty="0"/>
              <a:t>IF Yes → repeat from template selection</a:t>
            </a:r>
          </a:p>
          <a:p>
            <a:pPr>
              <a:spcAft>
                <a:spcPts val="500"/>
              </a:spcAft>
              <a:defRPr sz="1200" b="1">
                <a:solidFill>
                  <a:srgbClr val="E0EBF5"/>
                </a:solidFill>
                <a:latin typeface="Consolas"/>
              </a:defRPr>
            </a:pPr>
            <a:r>
              <a:rPr dirty="0"/>
              <a:t>IF No  → END</a:t>
            </a: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197E6A1F-5BE4-1A74-E7F5-199B3021008D}"/>
              </a:ext>
            </a:extLst>
          </p:cNvPr>
          <p:cNvSpPr/>
          <p:nvPr/>
        </p:nvSpPr>
        <p:spPr>
          <a:xfrm>
            <a:off x="5522976" y="754679"/>
            <a:ext cx="3474720" cy="4732020"/>
          </a:xfrm>
          <a:prstGeom prst="roundRect">
            <a:avLst/>
          </a:prstGeom>
          <a:solidFill>
            <a:srgbClr val="182137"/>
          </a:solidFill>
          <a:ln>
            <a:solidFill>
              <a:srgbClr val="37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/>
              <a:t>ye</a:t>
            </a:r>
            <a:r>
              <a:rPr lang="en-US" dirty="0" err="1">
                <a:solidFill>
                  <a:schemeClr val="accent2"/>
                </a:solidFill>
              </a:rPr>
              <a:t>yes</a:t>
            </a:r>
            <a:endParaRPr lang="en-US" dirty="0">
              <a:solidFill>
                <a:schemeClr val="accent2"/>
              </a:solidFill>
            </a:endParaRPr>
          </a:p>
          <a:p>
            <a:pPr algn="ctr"/>
            <a:endParaRPr dirty="0"/>
          </a:p>
        </p:txBody>
      </p:sp>
      <p:sp>
        <p:nvSpPr>
          <p:cNvPr id="31" name="Terminator 10">
            <a:extLst>
              <a:ext uri="{FF2B5EF4-FFF2-40B4-BE49-F238E27FC236}">
                <a16:creationId xmlns:a16="http://schemas.microsoft.com/office/drawing/2014/main" id="{345CAB4A-F48C-3630-6F0F-E8DB26691C5B}"/>
              </a:ext>
            </a:extLst>
          </p:cNvPr>
          <p:cNvSpPr/>
          <p:nvPr/>
        </p:nvSpPr>
        <p:spPr>
          <a:xfrm>
            <a:off x="6199632" y="1302327"/>
            <a:ext cx="2286000" cy="316161"/>
          </a:xfrm>
          <a:prstGeom prst="flowChartTerminator">
            <a:avLst/>
          </a:prstGeom>
          <a:solidFill>
            <a:srgbClr val="2CBAB0"/>
          </a:solidFill>
          <a:ln w="1905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32" name="Rounded Rectangle 11">
            <a:extLst>
              <a:ext uri="{FF2B5EF4-FFF2-40B4-BE49-F238E27FC236}">
                <a16:creationId xmlns:a16="http://schemas.microsoft.com/office/drawing/2014/main" id="{797B0FA2-6B77-BB50-7E3B-B48F448A404F}"/>
              </a:ext>
            </a:extLst>
          </p:cNvPr>
          <p:cNvSpPr/>
          <p:nvPr/>
        </p:nvSpPr>
        <p:spPr>
          <a:xfrm>
            <a:off x="5806440" y="1817370"/>
            <a:ext cx="2834640" cy="422910"/>
          </a:xfrm>
          <a:prstGeom prst="roundRect">
            <a:avLst/>
          </a:prstGeom>
          <a:solidFill>
            <a:srgbClr val="2E486C"/>
          </a:solidFill>
          <a:ln w="1905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Choose story template</a:t>
            </a:r>
          </a:p>
        </p:txBody>
      </p:sp>
      <p:sp>
        <p:nvSpPr>
          <p:cNvPr id="33" name="Rounded Rectangle 12">
            <a:extLst>
              <a:ext uri="{FF2B5EF4-FFF2-40B4-BE49-F238E27FC236}">
                <a16:creationId xmlns:a16="http://schemas.microsoft.com/office/drawing/2014/main" id="{65BB3196-F78F-9373-BA28-6C8341DDD8AD}"/>
              </a:ext>
            </a:extLst>
          </p:cNvPr>
          <p:cNvSpPr/>
          <p:nvPr/>
        </p:nvSpPr>
        <p:spPr>
          <a:xfrm>
            <a:off x="5852160" y="2347721"/>
            <a:ext cx="2834640" cy="446463"/>
          </a:xfrm>
          <a:prstGeom prst="roundRect">
            <a:avLst/>
          </a:prstGeom>
          <a:solidFill>
            <a:srgbClr val="2E486C"/>
          </a:solidFill>
          <a:ln w="1905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Enter words / inputs</a:t>
            </a:r>
          </a:p>
        </p:txBody>
      </p:sp>
      <p:sp>
        <p:nvSpPr>
          <p:cNvPr id="34" name="Rounded Rectangle 13">
            <a:extLst>
              <a:ext uri="{FF2B5EF4-FFF2-40B4-BE49-F238E27FC236}">
                <a16:creationId xmlns:a16="http://schemas.microsoft.com/office/drawing/2014/main" id="{AEC82BBA-9101-50A3-BF4B-1492451C2BEB}"/>
              </a:ext>
            </a:extLst>
          </p:cNvPr>
          <p:cNvSpPr/>
          <p:nvPr/>
        </p:nvSpPr>
        <p:spPr>
          <a:xfrm>
            <a:off x="5852160" y="2901625"/>
            <a:ext cx="2834640" cy="438129"/>
          </a:xfrm>
          <a:prstGeom prst="roundRect">
            <a:avLst/>
          </a:prstGeom>
          <a:solidFill>
            <a:srgbClr val="2E486C"/>
          </a:solidFill>
          <a:ln w="1905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Fill template with words</a:t>
            </a:r>
          </a:p>
        </p:txBody>
      </p:sp>
      <p:sp>
        <p:nvSpPr>
          <p:cNvPr id="35" name="Rounded Rectangle 14">
            <a:extLst>
              <a:ext uri="{FF2B5EF4-FFF2-40B4-BE49-F238E27FC236}">
                <a16:creationId xmlns:a16="http://schemas.microsoft.com/office/drawing/2014/main" id="{62318E58-FF1C-7D42-4DA9-BFBDCC352ADB}"/>
              </a:ext>
            </a:extLst>
          </p:cNvPr>
          <p:cNvSpPr/>
          <p:nvPr/>
        </p:nvSpPr>
        <p:spPr>
          <a:xfrm>
            <a:off x="5870448" y="3478600"/>
            <a:ext cx="2834640" cy="399958"/>
          </a:xfrm>
          <a:prstGeom prst="roundRect">
            <a:avLst/>
          </a:prstGeom>
          <a:solidFill>
            <a:srgbClr val="2E486C"/>
          </a:solidFill>
          <a:ln w="1905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Display generated story</a:t>
            </a: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58D1A6BA-08CE-AE00-08EF-35E2CC2E1B8E}"/>
              </a:ext>
            </a:extLst>
          </p:cNvPr>
          <p:cNvSpPr/>
          <p:nvPr/>
        </p:nvSpPr>
        <p:spPr>
          <a:xfrm>
            <a:off x="6281928" y="4109444"/>
            <a:ext cx="2011680" cy="658368"/>
          </a:xfrm>
          <a:prstGeom prst="diamond">
            <a:avLst/>
          </a:prstGeom>
          <a:solidFill>
            <a:srgbClr val="F4AE40"/>
          </a:solidFill>
          <a:ln w="1905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Play again?</a:t>
            </a:r>
          </a:p>
        </p:txBody>
      </p:sp>
      <p:sp>
        <p:nvSpPr>
          <p:cNvPr id="39" name="Terminator 16">
            <a:extLst>
              <a:ext uri="{FF2B5EF4-FFF2-40B4-BE49-F238E27FC236}">
                <a16:creationId xmlns:a16="http://schemas.microsoft.com/office/drawing/2014/main" id="{643057F5-E048-9F40-2089-1517F1FA86C3}"/>
              </a:ext>
            </a:extLst>
          </p:cNvPr>
          <p:cNvSpPr/>
          <p:nvPr/>
        </p:nvSpPr>
        <p:spPr>
          <a:xfrm>
            <a:off x="8293608" y="4007266"/>
            <a:ext cx="638510" cy="262846"/>
          </a:xfrm>
          <a:prstGeom prst="flowChartTerminator">
            <a:avLst/>
          </a:prstGeom>
          <a:solidFill>
            <a:srgbClr val="7049BE"/>
          </a:solidFill>
          <a:ln w="1905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END</a:t>
            </a:r>
          </a:p>
        </p:txBody>
      </p:sp>
      <p:cxnSp>
        <p:nvCxnSpPr>
          <p:cNvPr id="40" name="Connector 24">
            <a:extLst>
              <a:ext uri="{FF2B5EF4-FFF2-40B4-BE49-F238E27FC236}">
                <a16:creationId xmlns:a16="http://schemas.microsoft.com/office/drawing/2014/main" id="{A38593AA-ECA3-8465-BCB7-E0449893FE11}"/>
              </a:ext>
            </a:extLst>
          </p:cNvPr>
          <p:cNvCxnSpPr>
            <a:cxnSpLocks/>
            <a:stCxn id="36" idx="1"/>
          </p:cNvCxnSpPr>
          <p:nvPr/>
        </p:nvCxnSpPr>
        <p:spPr>
          <a:xfrm rot="10800000">
            <a:off x="5660136" y="1988820"/>
            <a:ext cx="621792" cy="2449808"/>
          </a:xfrm>
          <a:prstGeom prst="bentConnector2">
            <a:avLst/>
          </a:prstGeom>
          <a:ln w="17780">
            <a:solidFill>
              <a:srgbClr val="BEC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22">
            <a:extLst>
              <a:ext uri="{FF2B5EF4-FFF2-40B4-BE49-F238E27FC236}">
                <a16:creationId xmlns:a16="http://schemas.microsoft.com/office/drawing/2014/main" id="{988D2F7B-7FA8-3942-740D-53E6CF70E36D}"/>
              </a:ext>
            </a:extLst>
          </p:cNvPr>
          <p:cNvCxnSpPr>
            <a:cxnSpLocks/>
            <a:endCxn id="36" idx="3"/>
          </p:cNvCxnSpPr>
          <p:nvPr/>
        </p:nvCxnSpPr>
        <p:spPr>
          <a:xfrm flipH="1">
            <a:off x="8293608" y="4283953"/>
            <a:ext cx="319255" cy="154675"/>
          </a:xfrm>
          <a:prstGeom prst="line">
            <a:avLst/>
          </a:prstGeom>
          <a:ln w="19050">
            <a:solidFill>
              <a:srgbClr val="BEC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22">
            <a:extLst>
              <a:ext uri="{FF2B5EF4-FFF2-40B4-BE49-F238E27FC236}">
                <a16:creationId xmlns:a16="http://schemas.microsoft.com/office/drawing/2014/main" id="{87FA9998-8D9B-E591-54D2-11EBF178FCE6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7342632" y="1618488"/>
            <a:ext cx="0" cy="198882"/>
          </a:xfrm>
          <a:prstGeom prst="line">
            <a:avLst/>
          </a:prstGeom>
          <a:ln w="19050">
            <a:solidFill>
              <a:srgbClr val="BEC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21">
            <a:extLst>
              <a:ext uri="{FF2B5EF4-FFF2-40B4-BE49-F238E27FC236}">
                <a16:creationId xmlns:a16="http://schemas.microsoft.com/office/drawing/2014/main" id="{41765574-F99E-2AF9-0EBD-CCDFC44555F1}"/>
              </a:ext>
            </a:extLst>
          </p:cNvPr>
          <p:cNvCxnSpPr>
            <a:cxnSpLocks/>
            <a:stCxn id="36" idx="0"/>
            <a:endCxn id="35" idx="2"/>
          </p:cNvCxnSpPr>
          <p:nvPr/>
        </p:nvCxnSpPr>
        <p:spPr>
          <a:xfrm flipV="1">
            <a:off x="7287768" y="3878558"/>
            <a:ext cx="0" cy="230886"/>
          </a:xfrm>
          <a:prstGeom prst="line">
            <a:avLst/>
          </a:prstGeom>
          <a:ln w="19050">
            <a:solidFill>
              <a:srgbClr val="BEC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21">
            <a:extLst>
              <a:ext uri="{FF2B5EF4-FFF2-40B4-BE49-F238E27FC236}">
                <a16:creationId xmlns:a16="http://schemas.microsoft.com/office/drawing/2014/main" id="{3821B9AA-5490-42BA-2204-93806154CAB9}"/>
              </a:ext>
            </a:extLst>
          </p:cNvPr>
          <p:cNvCxnSpPr>
            <a:cxnSpLocks/>
            <a:stCxn id="35" idx="0"/>
            <a:endCxn id="34" idx="2"/>
          </p:cNvCxnSpPr>
          <p:nvPr/>
        </p:nvCxnSpPr>
        <p:spPr>
          <a:xfrm flipH="1" flipV="1">
            <a:off x="7269480" y="3339754"/>
            <a:ext cx="18288" cy="138846"/>
          </a:xfrm>
          <a:prstGeom prst="line">
            <a:avLst/>
          </a:prstGeom>
          <a:ln w="19050">
            <a:solidFill>
              <a:srgbClr val="BEC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21">
            <a:extLst>
              <a:ext uri="{FF2B5EF4-FFF2-40B4-BE49-F238E27FC236}">
                <a16:creationId xmlns:a16="http://schemas.microsoft.com/office/drawing/2014/main" id="{221B8A7E-E873-901F-3635-ECF3CDCD11BE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>
            <a:off x="7269480" y="2794184"/>
            <a:ext cx="0" cy="107441"/>
          </a:xfrm>
          <a:prstGeom prst="line">
            <a:avLst/>
          </a:prstGeom>
          <a:ln w="19050">
            <a:solidFill>
              <a:srgbClr val="BEC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21">
            <a:extLst>
              <a:ext uri="{FF2B5EF4-FFF2-40B4-BE49-F238E27FC236}">
                <a16:creationId xmlns:a16="http://schemas.microsoft.com/office/drawing/2014/main" id="{5A3A1858-03B4-CADB-8EC9-F35AA99FD55E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>
            <a:off x="7223760" y="2240280"/>
            <a:ext cx="45720" cy="107441"/>
          </a:xfrm>
          <a:prstGeom prst="line">
            <a:avLst/>
          </a:prstGeom>
          <a:ln w="19050">
            <a:solidFill>
              <a:srgbClr val="BEC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21">
            <a:extLst>
              <a:ext uri="{FF2B5EF4-FFF2-40B4-BE49-F238E27FC236}">
                <a16:creationId xmlns:a16="http://schemas.microsoft.com/office/drawing/2014/main" id="{82FEEF53-9298-EDC2-7836-1C3C4A575F76}"/>
              </a:ext>
            </a:extLst>
          </p:cNvPr>
          <p:cNvCxnSpPr/>
          <p:nvPr/>
        </p:nvCxnSpPr>
        <p:spPr>
          <a:xfrm>
            <a:off x="8823960" y="5111496"/>
            <a:ext cx="0" cy="146304"/>
          </a:xfrm>
          <a:prstGeom prst="line">
            <a:avLst/>
          </a:prstGeom>
          <a:ln w="19050">
            <a:solidFill>
              <a:srgbClr val="BEC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0D19E509-5978-D1A8-A8FE-A656D9BFB9C8}"/>
              </a:ext>
            </a:extLst>
          </p:cNvPr>
          <p:cNvSpPr txBox="1"/>
          <p:nvPr/>
        </p:nvSpPr>
        <p:spPr>
          <a:xfrm>
            <a:off x="5806440" y="5966568"/>
            <a:ext cx="926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Python Logic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2040" y="1188720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92040" y="2542032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3895344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97829" y="3671316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78989" y="4800600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12080" y="5084064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1350" dirty="0"/>
          </a:p>
        </p:txBody>
      </p:sp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30286B10-E9B1-85A8-DC07-AAE14028CBB1}"/>
              </a:ext>
            </a:extLst>
          </p:cNvPr>
          <p:cNvSpPr/>
          <p:nvPr/>
        </p:nvSpPr>
        <p:spPr>
          <a:xfrm>
            <a:off x="205740" y="852289"/>
            <a:ext cx="2240280" cy="1874519"/>
          </a:xfrm>
          <a:prstGeom prst="roundRect">
            <a:avLst/>
          </a:prstGeom>
          <a:solidFill>
            <a:srgbClr val="182137"/>
          </a:solidFill>
          <a:ln>
            <a:solidFill>
              <a:srgbClr val="37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E8616655-A37A-99A9-B80B-8014BA95809E}"/>
              </a:ext>
            </a:extLst>
          </p:cNvPr>
          <p:cNvSpPr/>
          <p:nvPr/>
        </p:nvSpPr>
        <p:spPr>
          <a:xfrm>
            <a:off x="2491740" y="868680"/>
            <a:ext cx="2240280" cy="1874519"/>
          </a:xfrm>
          <a:prstGeom prst="roundRect">
            <a:avLst/>
          </a:prstGeom>
          <a:solidFill>
            <a:srgbClr val="182137"/>
          </a:solidFill>
          <a:ln>
            <a:solidFill>
              <a:srgbClr val="37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Rounded Rectangle 15">
            <a:extLst>
              <a:ext uri="{FF2B5EF4-FFF2-40B4-BE49-F238E27FC236}">
                <a16:creationId xmlns:a16="http://schemas.microsoft.com/office/drawing/2014/main" id="{0C72FAD7-0369-03E6-6D7D-14582EFCCA16}"/>
              </a:ext>
            </a:extLst>
          </p:cNvPr>
          <p:cNvSpPr/>
          <p:nvPr/>
        </p:nvSpPr>
        <p:spPr>
          <a:xfrm>
            <a:off x="4797829" y="818389"/>
            <a:ext cx="2080260" cy="1874519"/>
          </a:xfrm>
          <a:prstGeom prst="roundRect">
            <a:avLst/>
          </a:prstGeom>
          <a:solidFill>
            <a:srgbClr val="182137"/>
          </a:solidFill>
          <a:ln>
            <a:solidFill>
              <a:srgbClr val="37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Rounded Rectangle 15">
            <a:extLst>
              <a:ext uri="{FF2B5EF4-FFF2-40B4-BE49-F238E27FC236}">
                <a16:creationId xmlns:a16="http://schemas.microsoft.com/office/drawing/2014/main" id="{F7B8A479-5202-4D19-B502-645CB709B763}"/>
              </a:ext>
            </a:extLst>
          </p:cNvPr>
          <p:cNvSpPr/>
          <p:nvPr/>
        </p:nvSpPr>
        <p:spPr>
          <a:xfrm>
            <a:off x="6926580" y="779527"/>
            <a:ext cx="2011680" cy="1874519"/>
          </a:xfrm>
          <a:prstGeom prst="roundRect">
            <a:avLst/>
          </a:prstGeom>
          <a:solidFill>
            <a:srgbClr val="182137"/>
          </a:solidFill>
          <a:ln>
            <a:solidFill>
              <a:srgbClr val="37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7" name="Rounded Rectangle 25">
            <a:extLst>
              <a:ext uri="{FF2B5EF4-FFF2-40B4-BE49-F238E27FC236}">
                <a16:creationId xmlns:a16="http://schemas.microsoft.com/office/drawing/2014/main" id="{944517A0-0BF3-63C6-A994-98EBE1FFBC95}"/>
              </a:ext>
            </a:extLst>
          </p:cNvPr>
          <p:cNvSpPr/>
          <p:nvPr/>
        </p:nvSpPr>
        <p:spPr>
          <a:xfrm>
            <a:off x="184035" y="2819228"/>
            <a:ext cx="8732520" cy="3215199"/>
          </a:xfrm>
          <a:prstGeom prst="roundRect">
            <a:avLst/>
          </a:prstGeom>
          <a:solidFill>
            <a:srgbClr val="121B2E"/>
          </a:solidFill>
          <a:ln>
            <a:solidFill>
              <a:srgbClr val="37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8D3E57D7-1DDF-5FF8-0029-4DB077575829}"/>
              </a:ext>
            </a:extLst>
          </p:cNvPr>
          <p:cNvSpPr txBox="1"/>
          <p:nvPr/>
        </p:nvSpPr>
        <p:spPr>
          <a:xfrm>
            <a:off x="571500" y="292610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PYTHON LOGIC IN THE PROJECT</a:t>
            </a:r>
          </a:p>
        </p:txBody>
      </p:sp>
      <p:sp>
        <p:nvSpPr>
          <p:cNvPr id="29" name="Rounded Rectangle 37">
            <a:extLst>
              <a:ext uri="{FF2B5EF4-FFF2-40B4-BE49-F238E27FC236}">
                <a16:creationId xmlns:a16="http://schemas.microsoft.com/office/drawing/2014/main" id="{5118FDC4-21E7-90CF-C734-095CBCDE9311}"/>
              </a:ext>
            </a:extLst>
          </p:cNvPr>
          <p:cNvSpPr/>
          <p:nvPr/>
        </p:nvSpPr>
        <p:spPr>
          <a:xfrm>
            <a:off x="6652260" y="3487097"/>
            <a:ext cx="2240280" cy="1627632"/>
          </a:xfrm>
          <a:prstGeom prst="roundRect">
            <a:avLst/>
          </a:prstGeom>
          <a:solidFill>
            <a:srgbClr val="1F2D46"/>
          </a:solidFill>
          <a:ln>
            <a:solidFill>
              <a:srgbClr val="F4A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F4AE40"/>
                </a:solidFill>
              </a:defRPr>
            </a:pPr>
            <a:r>
              <a:t>KEY IDEA</a:t>
            </a:r>
          </a:p>
          <a:p>
            <a:pPr algn="ctr"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Input → Process → Decision → Output</a:t>
            </a:r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BE89DD74-B332-953F-929A-72688900A370}"/>
              </a:ext>
            </a:extLst>
          </p:cNvPr>
          <p:cNvSpPr txBox="1"/>
          <p:nvPr/>
        </p:nvSpPr>
        <p:spPr>
          <a:xfrm>
            <a:off x="378691" y="350871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 b="1">
                <a:solidFill>
                  <a:srgbClr val="2CBAB0"/>
                </a:solidFill>
                <a:latin typeface="Aptos"/>
              </a:defRPr>
            </a:pPr>
            <a:r>
              <a:rPr dirty="0"/>
              <a:t>Variables</a:t>
            </a:r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75C0FB6E-96C0-BA19-462A-8D6802ACFCB8}"/>
              </a:ext>
            </a:extLst>
          </p:cNvPr>
          <p:cNvSpPr txBox="1"/>
          <p:nvPr/>
        </p:nvSpPr>
        <p:spPr>
          <a:xfrm>
            <a:off x="251460" y="3851027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 b="1">
                <a:solidFill>
                  <a:srgbClr val="2CBAB0"/>
                </a:solidFill>
                <a:latin typeface="Aptos"/>
              </a:defRPr>
            </a:pPr>
            <a:r>
              <a:rPr dirty="0"/>
              <a:t>String Formatting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094955-3048-4489-64A9-78CB61501FC6}"/>
              </a:ext>
            </a:extLst>
          </p:cNvPr>
          <p:cNvSpPr txBox="1"/>
          <p:nvPr/>
        </p:nvSpPr>
        <p:spPr>
          <a:xfrm>
            <a:off x="378691" y="4205316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 b="1">
                <a:solidFill>
                  <a:srgbClr val="2CBAB0"/>
                </a:solidFill>
                <a:latin typeface="Aptos"/>
              </a:defRPr>
            </a:pPr>
            <a:r>
              <a:rPr dirty="0"/>
              <a:t>If / Else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203AB65-9D86-3793-419A-2FF5B351DA22}"/>
              </a:ext>
            </a:extLst>
          </p:cNvPr>
          <p:cNvSpPr txBox="1"/>
          <p:nvPr/>
        </p:nvSpPr>
        <p:spPr>
          <a:xfrm>
            <a:off x="418869" y="4569714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 b="1">
                <a:solidFill>
                  <a:srgbClr val="2CBAB0"/>
                </a:solidFill>
                <a:latin typeface="Aptos"/>
              </a:defRPr>
            </a:pPr>
            <a:r>
              <a:t>Loops</a:t>
            </a:r>
          </a:p>
        </p:txBody>
      </p:sp>
      <p:sp>
        <p:nvSpPr>
          <p:cNvPr id="34" name="TextBox 35">
            <a:extLst>
              <a:ext uri="{FF2B5EF4-FFF2-40B4-BE49-F238E27FC236}">
                <a16:creationId xmlns:a16="http://schemas.microsoft.com/office/drawing/2014/main" id="{AD26A5B7-D533-06AA-4B56-7D74BF21F9A2}"/>
              </a:ext>
            </a:extLst>
          </p:cNvPr>
          <p:cNvSpPr txBox="1"/>
          <p:nvPr/>
        </p:nvSpPr>
        <p:spPr>
          <a:xfrm>
            <a:off x="320040" y="4977823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 b="1">
                <a:solidFill>
                  <a:srgbClr val="2CBAB0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35" name="TextBox 28">
            <a:extLst>
              <a:ext uri="{FF2B5EF4-FFF2-40B4-BE49-F238E27FC236}">
                <a16:creationId xmlns:a16="http://schemas.microsoft.com/office/drawing/2014/main" id="{3C8200A4-89A6-3912-E3D4-BC8A308F143E}"/>
              </a:ext>
            </a:extLst>
          </p:cNvPr>
          <p:cNvSpPr txBox="1"/>
          <p:nvPr/>
        </p:nvSpPr>
        <p:spPr>
          <a:xfrm>
            <a:off x="1546167" y="3490724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>
                <a:solidFill>
                  <a:srgbClr val="DAE6F0"/>
                </a:solidFill>
                <a:latin typeface="Aptos"/>
              </a:defRPr>
            </a:pPr>
            <a:r>
              <a:t>Store each word entered by the user</a:t>
            </a:r>
          </a:p>
        </p:txBody>
      </p:sp>
      <p:sp>
        <p:nvSpPr>
          <p:cNvPr id="36" name="TextBox 30">
            <a:extLst>
              <a:ext uri="{FF2B5EF4-FFF2-40B4-BE49-F238E27FC236}">
                <a16:creationId xmlns:a16="http://schemas.microsoft.com/office/drawing/2014/main" id="{638BF16E-AF8F-3CBD-4B71-B09C83C5E254}"/>
              </a:ext>
            </a:extLst>
          </p:cNvPr>
          <p:cNvSpPr txBox="1"/>
          <p:nvPr/>
        </p:nvSpPr>
        <p:spPr>
          <a:xfrm>
            <a:off x="1546167" y="3860282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>
                <a:solidFill>
                  <a:srgbClr val="DAE6F0"/>
                </a:solidFill>
                <a:latin typeface="Aptos"/>
              </a:defRPr>
            </a:pPr>
            <a:r>
              <a:rPr dirty="0"/>
              <a:t>Combine words with the story template</a:t>
            </a:r>
          </a:p>
        </p:txBody>
      </p:sp>
      <p:sp>
        <p:nvSpPr>
          <p:cNvPr id="37" name="TextBox 32">
            <a:extLst>
              <a:ext uri="{FF2B5EF4-FFF2-40B4-BE49-F238E27FC236}">
                <a16:creationId xmlns:a16="http://schemas.microsoft.com/office/drawing/2014/main" id="{463E6448-7E33-5141-8697-90A33EC029CB}"/>
              </a:ext>
            </a:extLst>
          </p:cNvPr>
          <p:cNvSpPr txBox="1"/>
          <p:nvPr/>
        </p:nvSpPr>
        <p:spPr>
          <a:xfrm>
            <a:off x="1546167" y="4231593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>
                <a:solidFill>
                  <a:srgbClr val="DAE6F0"/>
                </a:solidFill>
                <a:latin typeface="Aptos"/>
              </a:defRPr>
            </a:pPr>
            <a:r>
              <a:t>Validate choices and handle play-again logic</a:t>
            </a:r>
          </a:p>
        </p:txBody>
      </p:sp>
      <p:sp>
        <p:nvSpPr>
          <p:cNvPr id="38" name="TextBox 34">
            <a:extLst>
              <a:ext uri="{FF2B5EF4-FFF2-40B4-BE49-F238E27FC236}">
                <a16:creationId xmlns:a16="http://schemas.microsoft.com/office/drawing/2014/main" id="{70C98C32-8114-DCFE-53EB-DEABAC247E9E}"/>
              </a:ext>
            </a:extLst>
          </p:cNvPr>
          <p:cNvSpPr txBox="1"/>
          <p:nvPr/>
        </p:nvSpPr>
        <p:spPr>
          <a:xfrm>
            <a:off x="1546167" y="4532823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>
                <a:solidFill>
                  <a:srgbClr val="DAE6F0"/>
                </a:solidFill>
                <a:latin typeface="Aptos"/>
              </a:defRPr>
            </a:pPr>
            <a:r>
              <a:t>Allow multiple rounds of story generation</a:t>
            </a:r>
          </a:p>
        </p:txBody>
      </p:sp>
      <p:sp>
        <p:nvSpPr>
          <p:cNvPr id="39" name="TextBox 36">
            <a:extLst>
              <a:ext uri="{FF2B5EF4-FFF2-40B4-BE49-F238E27FC236}">
                <a16:creationId xmlns:a16="http://schemas.microsoft.com/office/drawing/2014/main" id="{D6BF0C0A-99E9-ECE4-5A00-B3FE9BBA0D4B}"/>
              </a:ext>
            </a:extLst>
          </p:cNvPr>
          <p:cNvSpPr txBox="1"/>
          <p:nvPr/>
        </p:nvSpPr>
        <p:spPr>
          <a:xfrm>
            <a:off x="1546167" y="4946709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>
                <a:solidFill>
                  <a:srgbClr val="DAE6F0"/>
                </a:solidFill>
                <a:latin typeface="Aptos"/>
              </a:defRPr>
            </a:pPr>
            <a:r>
              <a:t>Separate input, story generation and display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B00998B-79A6-5400-B825-32E8B19E2A6E}"/>
              </a:ext>
            </a:extLst>
          </p:cNvPr>
          <p:cNvSpPr/>
          <p:nvPr/>
        </p:nvSpPr>
        <p:spPr>
          <a:xfrm>
            <a:off x="320040" y="973235"/>
            <a:ext cx="384048" cy="384048"/>
          </a:xfrm>
          <a:prstGeom prst="ellipse">
            <a:avLst/>
          </a:prstGeom>
          <a:solidFill>
            <a:srgbClr val="2CB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8EF480E-9A97-BC1E-649E-E9E6D0547B71}"/>
              </a:ext>
            </a:extLst>
          </p:cNvPr>
          <p:cNvSpPr/>
          <p:nvPr/>
        </p:nvSpPr>
        <p:spPr>
          <a:xfrm>
            <a:off x="2611628" y="1023528"/>
            <a:ext cx="384048" cy="384048"/>
          </a:xfrm>
          <a:prstGeom prst="ellipse">
            <a:avLst/>
          </a:prstGeom>
          <a:solidFill>
            <a:srgbClr val="4C8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B39324E-05B8-ECE5-8305-25299366BC6C}"/>
              </a:ext>
            </a:extLst>
          </p:cNvPr>
          <p:cNvSpPr/>
          <p:nvPr/>
        </p:nvSpPr>
        <p:spPr>
          <a:xfrm>
            <a:off x="4963437" y="905954"/>
            <a:ext cx="384048" cy="384048"/>
          </a:xfrm>
          <a:prstGeom prst="ellipse">
            <a:avLst/>
          </a:prstGeom>
          <a:solidFill>
            <a:srgbClr val="F4A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7B7F1D7-A03A-D45D-D5D1-FB0F99195CA8}"/>
              </a:ext>
            </a:extLst>
          </p:cNvPr>
          <p:cNvSpPr/>
          <p:nvPr/>
        </p:nvSpPr>
        <p:spPr>
          <a:xfrm>
            <a:off x="7067319" y="882493"/>
            <a:ext cx="384048" cy="384048"/>
          </a:xfrm>
          <a:prstGeom prst="ellipse">
            <a:avLst/>
          </a:prstGeom>
          <a:solidFill>
            <a:srgbClr val="70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4" name="TextBox 7">
            <a:extLst>
              <a:ext uri="{FF2B5EF4-FFF2-40B4-BE49-F238E27FC236}">
                <a16:creationId xmlns:a16="http://schemas.microsoft.com/office/drawing/2014/main" id="{D8E469A3-7245-D375-1F09-BDC7274E1A61}"/>
              </a:ext>
            </a:extLst>
          </p:cNvPr>
          <p:cNvSpPr txBox="1"/>
          <p:nvPr/>
        </p:nvSpPr>
        <p:spPr>
          <a:xfrm>
            <a:off x="985797" y="987430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 b="1">
                <a:solidFill>
                  <a:srgbClr val="2CBAB0"/>
                </a:solidFill>
                <a:latin typeface="Aptos Display"/>
              </a:defRPr>
            </a:pPr>
            <a:r>
              <a:t>INPUT</a:t>
            </a:r>
          </a:p>
        </p:txBody>
      </p:sp>
      <p:sp>
        <p:nvSpPr>
          <p:cNvPr id="45" name="TextBox 12">
            <a:extLst>
              <a:ext uri="{FF2B5EF4-FFF2-40B4-BE49-F238E27FC236}">
                <a16:creationId xmlns:a16="http://schemas.microsoft.com/office/drawing/2014/main" id="{1BB0E585-ED1E-F2D5-111E-5AA953D6EB26}"/>
              </a:ext>
            </a:extLst>
          </p:cNvPr>
          <p:cNvSpPr txBox="1"/>
          <p:nvPr/>
        </p:nvSpPr>
        <p:spPr>
          <a:xfrm>
            <a:off x="3184929" y="1060535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 b="1">
                <a:solidFill>
                  <a:srgbClr val="4C89D2"/>
                </a:solidFill>
                <a:latin typeface="Aptos Display"/>
              </a:defRPr>
            </a:pPr>
            <a:r>
              <a:t>PROCESS</a:t>
            </a:r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E32BE57F-22AD-EF4C-4BC4-3BE17984CD84}"/>
              </a:ext>
            </a:extLst>
          </p:cNvPr>
          <p:cNvSpPr txBox="1"/>
          <p:nvPr/>
        </p:nvSpPr>
        <p:spPr>
          <a:xfrm>
            <a:off x="5526578" y="969269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 b="1">
                <a:solidFill>
                  <a:srgbClr val="F4AE40"/>
                </a:solidFill>
                <a:latin typeface="Aptos Display"/>
              </a:defRPr>
            </a:pPr>
            <a:r>
              <a:t>LOGIC</a:t>
            </a:r>
          </a:p>
        </p:txBody>
      </p:sp>
      <p:sp>
        <p:nvSpPr>
          <p:cNvPr id="51" name="TextBox 22">
            <a:extLst>
              <a:ext uri="{FF2B5EF4-FFF2-40B4-BE49-F238E27FC236}">
                <a16:creationId xmlns:a16="http://schemas.microsoft.com/office/drawing/2014/main" id="{8834E84C-F4DA-8A06-88C0-037B9E953CAD}"/>
              </a:ext>
            </a:extLst>
          </p:cNvPr>
          <p:cNvSpPr txBox="1"/>
          <p:nvPr/>
        </p:nvSpPr>
        <p:spPr>
          <a:xfrm>
            <a:off x="7589520" y="913964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 b="1">
                <a:solidFill>
                  <a:srgbClr val="7049BE"/>
                </a:solidFill>
                <a:latin typeface="Aptos Display"/>
              </a:defRPr>
            </a:pPr>
            <a:r>
              <a:rPr dirty="0"/>
              <a:t>OUTPUT</a:t>
            </a:r>
          </a:p>
        </p:txBody>
      </p:sp>
      <p:sp>
        <p:nvSpPr>
          <p:cNvPr id="54" name="TextBox 8">
            <a:extLst>
              <a:ext uri="{FF2B5EF4-FFF2-40B4-BE49-F238E27FC236}">
                <a16:creationId xmlns:a16="http://schemas.microsoft.com/office/drawing/2014/main" id="{67DF0B9A-D2F0-3ADC-A439-A277C3C0E29B}"/>
              </a:ext>
            </a:extLst>
          </p:cNvPr>
          <p:cNvSpPr txBox="1"/>
          <p:nvPr/>
        </p:nvSpPr>
        <p:spPr>
          <a:xfrm>
            <a:off x="359387" y="1402727"/>
            <a:ext cx="19019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EEF5FA"/>
                </a:solidFill>
                <a:latin typeface="Aptos"/>
              </a:defRPr>
            </a:pPr>
            <a:r>
              <a:t>Take words from the user</a:t>
            </a:r>
          </a:p>
        </p:txBody>
      </p:sp>
      <p:sp>
        <p:nvSpPr>
          <p:cNvPr id="55" name="TextBox 13">
            <a:extLst>
              <a:ext uri="{FF2B5EF4-FFF2-40B4-BE49-F238E27FC236}">
                <a16:creationId xmlns:a16="http://schemas.microsoft.com/office/drawing/2014/main" id="{2D68D544-56F3-AB8C-DE2F-3589995FC5DE}"/>
              </a:ext>
            </a:extLst>
          </p:cNvPr>
          <p:cNvSpPr txBox="1"/>
          <p:nvPr/>
        </p:nvSpPr>
        <p:spPr>
          <a:xfrm>
            <a:off x="2648343" y="1441998"/>
            <a:ext cx="19019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EEF5FA"/>
                </a:solidFill>
                <a:latin typeface="Aptos"/>
              </a:defRPr>
            </a:pPr>
            <a:r>
              <a:t>Store and organize the inputs</a:t>
            </a:r>
          </a:p>
        </p:txBody>
      </p:sp>
      <p:sp>
        <p:nvSpPr>
          <p:cNvPr id="56" name="TextBox 18">
            <a:extLst>
              <a:ext uri="{FF2B5EF4-FFF2-40B4-BE49-F238E27FC236}">
                <a16:creationId xmlns:a16="http://schemas.microsoft.com/office/drawing/2014/main" id="{B1BB40A7-111E-75E3-68AA-762226FD8C1F}"/>
              </a:ext>
            </a:extLst>
          </p:cNvPr>
          <p:cNvSpPr txBox="1"/>
          <p:nvPr/>
        </p:nvSpPr>
        <p:spPr>
          <a:xfrm>
            <a:off x="4832073" y="1369313"/>
            <a:ext cx="19019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EEF5FA"/>
                </a:solidFill>
                <a:latin typeface="Aptos"/>
              </a:defRPr>
            </a:pPr>
            <a:r>
              <a:rPr dirty="0"/>
              <a:t>Insert words into a template</a:t>
            </a:r>
          </a:p>
        </p:txBody>
      </p:sp>
      <p:sp>
        <p:nvSpPr>
          <p:cNvPr id="57" name="TextBox 23">
            <a:extLst>
              <a:ext uri="{FF2B5EF4-FFF2-40B4-BE49-F238E27FC236}">
                <a16:creationId xmlns:a16="http://schemas.microsoft.com/office/drawing/2014/main" id="{164A5E64-760A-A7BE-799E-15AB16BFA5C1}"/>
              </a:ext>
            </a:extLst>
          </p:cNvPr>
          <p:cNvSpPr txBox="1"/>
          <p:nvPr/>
        </p:nvSpPr>
        <p:spPr>
          <a:xfrm>
            <a:off x="6882661" y="1284738"/>
            <a:ext cx="19019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EEF5FA"/>
                </a:solidFill>
                <a:latin typeface="Aptos"/>
              </a:defRPr>
            </a:pPr>
            <a:r>
              <a:t>Generate and display the story</a:t>
            </a:r>
          </a:p>
        </p:txBody>
      </p:sp>
      <p:sp>
        <p:nvSpPr>
          <p:cNvPr id="58" name="TextBox 9">
            <a:extLst>
              <a:ext uri="{FF2B5EF4-FFF2-40B4-BE49-F238E27FC236}">
                <a16:creationId xmlns:a16="http://schemas.microsoft.com/office/drawing/2014/main" id="{4F573D5B-33EE-186C-DBD8-83B9BC73DC36}"/>
              </a:ext>
            </a:extLst>
          </p:cNvPr>
          <p:cNvSpPr txBox="1"/>
          <p:nvPr/>
        </p:nvSpPr>
        <p:spPr>
          <a:xfrm>
            <a:off x="378691" y="1929974"/>
            <a:ext cx="19019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50">
                <a:solidFill>
                  <a:srgbClr val="A0B4CD"/>
                </a:solidFill>
                <a:latin typeface="Aptos"/>
              </a:defRPr>
            </a:pPr>
            <a:r>
              <a:t>noun • verb • adjective • place</a:t>
            </a:r>
          </a:p>
        </p:txBody>
      </p:sp>
      <p:sp>
        <p:nvSpPr>
          <p:cNvPr id="59" name="TextBox 14">
            <a:extLst>
              <a:ext uri="{FF2B5EF4-FFF2-40B4-BE49-F238E27FC236}">
                <a16:creationId xmlns:a16="http://schemas.microsoft.com/office/drawing/2014/main" id="{95CC9FA1-6015-512F-6A83-D3FCF0D6BE0F}"/>
              </a:ext>
            </a:extLst>
          </p:cNvPr>
          <p:cNvSpPr txBox="1"/>
          <p:nvPr/>
        </p:nvSpPr>
        <p:spPr>
          <a:xfrm>
            <a:off x="2910078" y="1985858"/>
            <a:ext cx="19019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50">
                <a:solidFill>
                  <a:srgbClr val="A0B4CD"/>
                </a:solidFill>
                <a:latin typeface="Aptos"/>
              </a:defRPr>
            </a:pPr>
            <a:r>
              <a:t>variables • lists • strings</a:t>
            </a:r>
          </a:p>
        </p:txBody>
      </p:sp>
      <p:sp>
        <p:nvSpPr>
          <p:cNvPr id="60" name="TextBox 19">
            <a:extLst>
              <a:ext uri="{FF2B5EF4-FFF2-40B4-BE49-F238E27FC236}">
                <a16:creationId xmlns:a16="http://schemas.microsoft.com/office/drawing/2014/main" id="{EDBB6865-202C-DA71-CE97-06345DAB6B41}"/>
              </a:ext>
            </a:extLst>
          </p:cNvPr>
          <p:cNvSpPr txBox="1"/>
          <p:nvPr/>
        </p:nvSpPr>
        <p:spPr>
          <a:xfrm>
            <a:off x="4974682" y="1881488"/>
            <a:ext cx="19019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50">
                <a:solidFill>
                  <a:srgbClr val="A0B4CD"/>
                </a:solidFill>
                <a:latin typeface="Aptos"/>
              </a:defRPr>
            </a:pPr>
            <a:r>
              <a:t>conditions • loops • functions</a:t>
            </a:r>
          </a:p>
        </p:txBody>
      </p:sp>
      <p:sp>
        <p:nvSpPr>
          <p:cNvPr id="61" name="TextBox 24">
            <a:extLst>
              <a:ext uri="{FF2B5EF4-FFF2-40B4-BE49-F238E27FC236}">
                <a16:creationId xmlns:a16="http://schemas.microsoft.com/office/drawing/2014/main" id="{43A7EF80-7F2F-7942-76A5-AB402337CF22}"/>
              </a:ext>
            </a:extLst>
          </p:cNvPr>
          <p:cNvSpPr txBox="1"/>
          <p:nvPr/>
        </p:nvSpPr>
        <p:spPr>
          <a:xfrm>
            <a:off x="7084060" y="1801107"/>
            <a:ext cx="19019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50">
                <a:solidFill>
                  <a:srgbClr val="A0B4CD"/>
                </a:solidFill>
                <a:latin typeface="Aptos"/>
              </a:defRPr>
            </a:pPr>
            <a:r>
              <a:t>formatted text • user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Workflow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23774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GitHub account and repository: Mad libs generator in python</a:t>
            </a:r>
            <a:endParaRPr lang="en-US" sz="14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README.md explaining the project overview and usage</a:t>
            </a:r>
            <a:endParaRPr lang="en-US" sz="14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commit history to reflect individual contribution</a:t>
            </a:r>
            <a:endParaRPr lang="en-US" sz="14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.gitignore to exclude unnecessary files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8229600" cy="2148840"/>
          </a:xfrm>
          <a:prstGeom prst="roundRect">
            <a:avLst>
              <a:gd name="adj" fmla="val 2927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251960"/>
            <a:ext cx="7680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“Initial commit: Add Mad Libs Generator”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“Add README documentation for Mad Libs project”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“Add Mad Libs story generator program”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“Add Mad Libs story generator program”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cs typeface="Courier New" pitchFamily="34" charset="-120"/>
              </a:rPr>
              <a:t>“Add pseudocode and flowchart documentation”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cs typeface="Courier New" pitchFamily="34" charset="-120"/>
              </a:rPr>
              <a:t>“Add Mad Libs Generator with documentation”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r>
              <a:rPr lang="en-US" sz="44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4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626</Words>
  <Application>Microsoft Office PowerPoint</Application>
  <PresentationFormat>On-screen Show (4:3)</PresentationFormat>
  <Paragraphs>127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MANOJ</cp:lastModifiedBy>
  <cp:revision>2</cp:revision>
  <dcterms:created xsi:type="dcterms:W3CDTF">2026-08-16T11:20:33Z</dcterms:created>
  <dcterms:modified xsi:type="dcterms:W3CDTF">2026-08-21T11:47:58Z</dcterms:modified>
</cp:coreProperties>
</file>